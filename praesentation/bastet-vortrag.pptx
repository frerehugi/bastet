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1.png"/><Relationship Id="rId5" Type="http://schemas.openxmlformats.org/officeDocument/2006/relationships/image" Target="../media/image-16-1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stet_real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77724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743200"/>
            <a:ext cx="1216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BASTET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1371600" y="379476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KI-gestütztes Orientierungswerkzeug für Post-COVID-Betroffene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deutschen Sozialrecht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0" y="612648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Schmitz &amp; Hugenberg, Osnabrück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88720" y="1417320"/>
            <a:ext cx="54864" cy="3520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508760" y="1463040"/>
            <a:ext cx="9464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600" i="1" dirty="0">
                <a:solidFill>
                  <a:srgbClr val="1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„Sie waren Pflegekraft auf einer Intensivstation. 2021 haben Sie sich im Dienst infiziert — dokumentiert, von der Berufs­genossenschaft anerkannt. Drei Jahre später schaffen Sie keine zwei Stunden Arbeit mehr, ohne danach eine Woche im Bett zu liegen. Niemand verbindet das mit der Infektion von damals.“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5212080"/>
            <a:ext cx="946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ist die Ausgangslage, um die es heute geht.</a:t>
            </a:r>
            <a:endParaRPr lang="en-US" sz="1500" dirty="0"/>
          </a:p>
        </p:txBody>
      </p:sp>
      <p:pic>
        <p:nvPicPr>
          <p:cNvPr id="6" name="Image 0" descr="bastet_real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Post-COVID und ME/CFS</a:t>
            </a:r>
            <a:endParaRPr lang="en-US" sz="3200" dirty="0"/>
          </a:p>
        </p:txBody>
      </p:sp>
      <p:pic>
        <p:nvPicPr>
          <p:cNvPr id="4" name="Image 0" descr="ic_p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7830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 — Post-exertionelle Malaise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21488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Unverhältnismäßige, oft erst nach Stunden/Tagen einsetzende Verschlechterung nach Belastung. Erholung: Tage bis Wochen.</a:t>
            </a:r>
            <a:endParaRPr lang="en-US" sz="1350" dirty="0"/>
          </a:p>
        </p:txBody>
      </p:sp>
      <p:pic>
        <p:nvPicPr>
          <p:cNvPr id="7" name="Image 1" descr="ic_com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71800"/>
            <a:ext cx="594360" cy="594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29260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„Brain Fog“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1463040" y="32918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Konzentrationsstörungen, Wortfindungsstörungen, Kurzzeitgedächtnisverlust — zentral für den heutigen Vortrag.</a:t>
            </a:r>
            <a:endParaRPr lang="en-US" sz="1350" dirty="0"/>
          </a:p>
        </p:txBody>
      </p:sp>
      <p:pic>
        <p:nvPicPr>
          <p:cNvPr id="10" name="Image 2" descr="ic_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4800"/>
            <a:ext cx="594360" cy="5943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40690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Leitsymptome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1463040" y="44348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erholsamer Schlaf, Schmerzen, autonome Symptome (z. B. Kreislauf beim Aufstehen).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ME/CFS: von der WHO als neurologische Erkrankung eingestuft (ICD-10 G93.3).</a:t>
            </a:r>
            <a:endParaRPr lang="en-US" sz="1250" dirty="0"/>
          </a:p>
        </p:txBody>
      </p:sp>
      <p:pic>
        <p:nvPicPr>
          <p:cNvPr id="14" name="Image 3" descr="bastet_real_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2608" cy="29260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GRÖSSENORDNUNG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viele Menschen sind betroffen?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31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1,4–1,5 Mio.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Menschen in Deutschland mit ME/CFS oder Long-COVID (Gesamtzahl, keine Summe zweier Gruppen)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0" y="19659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1880" y="2331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250 Mrd. €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342900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volkswirtschaftliche Kosten 2020–2024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331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 Mrd. €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42900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allein 2024 — rund 1,5 % des deutschen BIP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0" y="19659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81160" y="2331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15–20 Mio. €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342900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jährliche Forschungsförderung demgegenüber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093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ME/CFS Research Foundation &amp; Risklayer, Mai 2025 / Update April 2026</a:t>
            </a:r>
            <a:endParaRPr lang="en-US" sz="1050" dirty="0"/>
          </a:p>
        </p:txBody>
      </p:sp>
      <p:pic>
        <p:nvPicPr>
          <p:cNvPr id="17" name="Image 0" descr="bastet_real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INSTITUTION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Berufsgenossenschaft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gesetzliche Unfallversicherung ist ein eigener Sozialversicherungszweig — organisiert in Berufsgenossenschaften, zuständig für Arbeitsunfälle und Berufskrankheiten.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0040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den Gesundheitsdienst ist praktisch eine einzige Institution zuständig: die BGW — Berufsgenossenschaft für Gesundheitsdienst und Wohlfahrtspflege.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0" y="1783080"/>
            <a:ext cx="4480560" cy="3931920"/>
          </a:xfrm>
          <a:prstGeom prst="roundRect">
            <a:avLst>
              <a:gd name="adj" fmla="val 2791"/>
            </a:avLst>
          </a:prstGeom>
          <a:solidFill>
            <a:srgbClr val="1F3D2E"/>
          </a:solidFill>
          <a:ln/>
        </p:spPr>
      </p:sp>
      <p:pic>
        <p:nvPicPr>
          <p:cNvPr id="7" name="Image 0" descr="ic_hospi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0" y="2148840"/>
            <a:ext cx="914400" cy="914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0" y="3337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9,6 Mio.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315200" y="37216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Versicherte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40873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690.000+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315200" y="44714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Unternehmen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483717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BK 3101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0" y="52212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als Berufskrankheit</a:t>
            </a:r>
            <a:endParaRPr lang="en-US" sz="1250" dirty="0"/>
          </a:p>
        </p:txBody>
      </p:sp>
      <p:pic>
        <p:nvPicPr>
          <p:cNvPr id="14" name="Image 1" descr="bastet_real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GRÖSSENORDNUNG II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auffälliges Missverhältnis</a:t>
            </a:r>
            <a:endParaRPr lang="en-US" sz="3200" dirty="0"/>
          </a:p>
        </p:txBody>
      </p:sp>
      <p:pic>
        <p:nvPicPr>
          <p:cNvPr id="4" name="Image 0" descr="ic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20240" y="18288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120.000</a:t>
            </a:r>
            <a:endParaRPr lang="en-US" sz="4000" dirty="0"/>
          </a:p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anerkannte BK-3101-Fälle (COVID-19) 2020/2021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766560" y="182880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nur 2–3 %</a:t>
            </a:r>
            <a:endParaRPr lang="en-US" sz="4000" dirty="0"/>
          </a:p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davon mit dokumentierter Long-/Post-COVID-Diagnose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537960" y="1920240"/>
            <a:ext cx="0" cy="1737360"/>
          </a:xfrm>
          <a:prstGeom prst="line">
            <a:avLst/>
          </a:prstGeom>
          <a:noFill/>
          <a:ln w="19050">
            <a:solidFill>
              <a:srgbClr val="D8D4C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2062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DGUV selbst räumt eine erhebliche Untererfassung ein.</a:t>
            </a:r>
            <a:endParaRPr lang="en-US" sz="1500" dirty="0"/>
          </a:p>
        </p:txBody>
      </p:sp>
      <p:pic>
        <p:nvPicPr>
          <p:cNvPr id="9" name="Image 1" descr="bastet_real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AKTUELLE ENTWICKLUNG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Nachlaufwelle: ein Muster, das aufhorchen lässt</a:t>
            </a:r>
            <a:endParaRPr lang="en-US" sz="3200" dirty="0"/>
          </a:p>
        </p:txBody>
      </p:sp>
      <p:pic>
        <p:nvPicPr>
          <p:cNvPr id="4" name="Image 0" descr="chart_nachlaufwel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10881360" cy="4160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BGW: Verdachtsanzeigen brechen ein (−90 %), neu bewilligte Renten steigen (+179 % in 3 Jahren).</a:t>
            </a:r>
            <a:endParaRPr lang="en-US" sz="1250" dirty="0"/>
          </a:p>
        </p:txBody>
      </p:sp>
      <p:pic>
        <p:nvPicPr>
          <p:cNvPr id="6" name="Image 1" descr="bastet_real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2608" cy="2926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PATIENTENSICHT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Betroffene die Situation erleben</a:t>
            </a:r>
            <a:endParaRPr lang="en-US" sz="3200" dirty="0"/>
          </a:p>
        </p:txBody>
      </p:sp>
      <p:pic>
        <p:nvPicPr>
          <p:cNvPr id="4" name="Image 0" descr="ic_p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8288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Fog als Zugangshürde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21945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Formulare, Fristen, Widersprüche — für Menschen mit eingeschränkter kognitiver Leistungsfähigkeit eine strukturelle Hürde, nicht nur eine Unannehmlichkeit.</a:t>
            </a:r>
            <a:endParaRPr lang="en-US" sz="1350" dirty="0"/>
          </a:p>
        </p:txBody>
      </p:sp>
      <p:pic>
        <p:nvPicPr>
          <p:cNvPr id="7" name="Image 1" descr="ic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46120"/>
            <a:ext cx="594360" cy="594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32004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Informationsasymmetrie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1463040" y="35661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meisten Betroffenen wissen nicht, welche Ansprüche bestehen oder wo sie ansetzen müssten.</a:t>
            </a:r>
            <a:endParaRPr lang="en-US" sz="1350" dirty="0"/>
          </a:p>
        </p:txBody>
      </p:sp>
      <p:pic>
        <p:nvPicPr>
          <p:cNvPr id="10" name="Image 2" descr="ic_sca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17720"/>
            <a:ext cx="594360" cy="5943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45720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Kausalitätslücke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1463040" y="4937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Erstinfektion beruflich anerkannt — aber die heutigen Beschwerden sind nicht als Berufskrankheits-Folge gelistet.</a:t>
            </a:r>
            <a:endParaRPr lang="en-US" sz="1350" dirty="0"/>
          </a:p>
        </p:txBody>
      </p:sp>
      <p:pic>
        <p:nvPicPr>
          <p:cNvPr id="13" name="Image 3" descr="bastet_real_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2608" cy="29260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PATIENTENSICHT II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Lücke im Detail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1F3D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Erstinfektion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26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beruflich anerkannt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(Arbeitsunfall bestätigt)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886200" y="2788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43400" y="237744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F7F6F2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Lücke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926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„haftungsausfüllende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Kausalität“ ungeklärt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2788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046720" y="237744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1F3D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8388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Heutige Beschwerden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926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Berufskrankheits-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Folge nicht gelistet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2976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Beweismaßstab: „hinreichende Wahrscheinlichkeit“, kein Vollbeweis — aber es braucht eine lückenlose Dokumentation (z. B. durchgehende Krankschreibungen mit passender Symptomatik), die den meisten Betroffenen fehlt.</a:t>
            </a:r>
            <a:endParaRPr lang="en-US" sz="1400" dirty="0"/>
          </a:p>
        </p:txBody>
      </p:sp>
      <p:pic>
        <p:nvPicPr>
          <p:cNvPr id="16" name="Image 0" descr="bastet_real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PATIENTENSICHT III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 Meldepflicht, die ins Leere läuft</a:t>
            </a:r>
            <a:endParaRPr lang="en-US" sz="3200" dirty="0"/>
          </a:p>
        </p:txBody>
      </p:sp>
      <p:pic>
        <p:nvPicPr>
          <p:cNvPr id="4" name="Image 0" descr="ic_userm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1168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920240"/>
            <a:ext cx="8961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 202 SGB VII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Ärzt:innen sind bei begründetem Verdacht auf eine Berufskrankheit zur unverzüglichen Meldung verpflichtet — unabhängig von der Einwilligung der Patient:in.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931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der Praxis oft nicht erfüllt — weil der Zusammenhang zwischen einer Jahre zurückliegenden Infektion und heutiger Fatigue im Praxisalltag nicht präsent ist.</a:t>
            </a:r>
            <a:endParaRPr lang="en-US" sz="1500" dirty="0"/>
          </a:p>
        </p:txBody>
      </p:sp>
      <p:pic>
        <p:nvPicPr>
          <p:cNvPr id="7" name="Image 1" descr="bastet_real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AKTUELLE ENTWICKLUNGEN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Entwicklungen, die die Lücke relevanter machen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</p:spPr>
      </p:sp>
      <p:pic>
        <p:nvPicPr>
          <p:cNvPr id="5" name="Image 0" descr="ic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488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22128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Nachlaufwelle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92608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Steigende Rentenbewilligungen bei sinkenden Neuanzeigen — die eigentliche Begutachtungswelle läuft gerade erst an.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09360" y="182880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</p:spPr>
      </p:sp>
      <p:pic>
        <p:nvPicPr>
          <p:cNvPr id="9" name="Image 1" descr="ic_eur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14884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452360" y="22128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Politische Aufmerksamkeit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583680" y="292608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Bundestags-Gesundheitsausschuss befasst; „Nationale Dekade gegen Postinfektiöse Erkrankungen“ — 500 Mio. € Forschungsförderung 2026–2036.</a:t>
            </a:r>
            <a:endParaRPr lang="en-US" sz="1350" dirty="0"/>
          </a:p>
        </p:txBody>
      </p:sp>
      <p:pic>
        <p:nvPicPr>
          <p:cNvPr id="12" name="Image 2" descr="bastet_real_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2608" cy="29260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BASTET: zwei Arme, eine Wissensbasis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16302A"/>
          </a:solidFill>
          <a:ln/>
        </p:spPr>
      </p:sp>
      <p:pic>
        <p:nvPicPr>
          <p:cNvPr id="4" name="Image 0" descr="ic_comment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488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01168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Betroffenen-Arm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06324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Geführtes Gespräch, ca. 15 Minuten. Zitatbelegte, unverbindliche Einschätzung zu GdB und — falls einschlägig — MdE.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09360" y="182880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16302A"/>
          </a:solidFill>
          <a:ln/>
        </p:spPr>
      </p:sp>
      <p:pic>
        <p:nvPicPr>
          <p:cNvPr id="8" name="Image 1" descr="ic_clipboard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48840"/>
            <a:ext cx="822960" cy="8229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8096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Ärzte-Arm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6583680" y="306324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Strukturiertes Formular statt Gespräch. Fachliche Zweitmeinung — mit ständigem Hinweis auf die Meldepflicht nach § 202 SGB VII.</a:t>
            </a:r>
            <a:endParaRPr lang="en-US" sz="1400" dirty="0"/>
          </a:p>
        </p:txBody>
      </p:sp>
      <p:pic>
        <p:nvPicPr>
          <p:cNvPr id="11" name="Image 2" descr="bastet_real_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2608" cy="2926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FUNKTIONSWEISE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 Design-Prinzipien</a:t>
            </a:r>
            <a:endParaRPr lang="en-US" sz="3200" dirty="0"/>
          </a:p>
        </p:txBody>
      </p:sp>
      <p:pic>
        <p:nvPicPr>
          <p:cNvPr id="4" name="Image 0" descr="ic_lock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8288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Speicherung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21945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Gesprächsinhalte werden nicht gespeichert — Vertrauensvoraussetzung bei einem Gesundheitsthema.</a:t>
            </a:r>
            <a:endParaRPr lang="en-US" sz="1350" dirty="0"/>
          </a:p>
        </p:txBody>
      </p:sp>
      <p:pic>
        <p:nvPicPr>
          <p:cNvPr id="7" name="Image 1" descr="ic_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46120"/>
            <a:ext cx="594360" cy="594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32004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Aussage wird belegt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1463040" y="35661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Konkrete Textstelle oder Gerichtsentscheidung pro Einschätzung — nachvollziehbar statt Blackbox.</a:t>
            </a:r>
            <a:endParaRPr lang="en-US" sz="1350" dirty="0"/>
          </a:p>
        </p:txBody>
      </p:sp>
      <p:pic>
        <p:nvPicPr>
          <p:cNvPr id="10" name="Image 2" descr="ic_shield_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17720"/>
            <a:ext cx="594360" cy="5943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45720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Mehrstufiges Sicherheitsnetz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1463040" y="4937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Diagnose-Gate vor Gesprächsbeginn, Kriseninterventions-Logik bei Anzeichen akuter Not.</a:t>
            </a:r>
            <a:endParaRPr lang="en-US" sz="1350" dirty="0"/>
          </a:p>
        </p:txBody>
      </p:sp>
      <p:pic>
        <p:nvPicPr>
          <p:cNvPr id="13" name="Image 3" descr="bastet_real_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2608" cy="29260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ZUGANGSWEGE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 Wege zu derselben Wissensbasis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</p:spPr>
      </p:sp>
      <p:pic>
        <p:nvPicPr>
          <p:cNvPr id="5" name="Image 0" descr="ic_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7380" y="23317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429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319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Vertrauen aufbauen, den Haftungsausschluss lesen, dann weiterleiten.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89120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</p:spPr>
      </p:sp>
      <p:pic>
        <p:nvPicPr>
          <p:cNvPr id="9" name="Image 1" descr="ic_pl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420" y="2331720"/>
            <a:ext cx="914400" cy="9144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0" y="3429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KI-Konnektor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4663440" y="39319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 einbindbar in Claude, ChatGPT, Gemini — kein Anbieter-Lock-in, keine neue App.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138160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</p:spPr>
      </p:sp>
      <p:pic>
        <p:nvPicPr>
          <p:cNvPr id="13" name="Image 2" descr="ic_paperpla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460" y="2331720"/>
            <a:ext cx="914400" cy="9144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21040" y="3429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8412480" y="39319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Download, kein Konto — nur ein Chat. Per QR-Code sofort erreichbar.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Dienst, mehrere Eingänge — nicht drei verschiedene Produkte.</a:t>
            </a:r>
            <a:endParaRPr lang="en-US" sz="1300" dirty="0"/>
          </a:p>
        </p:txBody>
      </p:sp>
      <p:pic>
        <p:nvPicPr>
          <p:cNvPr id="17" name="Image 3" descr="bastet_real_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TRANSPARENZ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Öffentlich zugängliche Wissensgrundlage</a:t>
            </a:r>
            <a:endParaRPr lang="en-US" sz="3200" dirty="0"/>
          </a:p>
        </p:txBody>
      </p:sp>
      <p:pic>
        <p:nvPicPr>
          <p:cNvPr id="4" name="Image 0" descr="ic_lockope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20240" y="19659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Blackbox — jede Quelle ist nachprüfbar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920240" y="2606040"/>
            <a:ext cx="9326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Versorgungsmedizin-Verordnung — amtliches Werk, urheberrechtsfrei (§ 5 UrhG)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anerkannte Diagnosekriterien für ME/CFS (Kanadische Konsenskriterien)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Veröffentlichte Sozialgerichtsentscheidungen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Öffentliche Statistiken der DGUV und des Robert Koch-Instituts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029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Redaktionell aufbereitet wird die Wissensbasis vom Projektteam — die zugrunde liegenden Fakten selbst sind für jede und jeden überprüfbar.</a:t>
            </a:r>
            <a:endParaRPr lang="en-US" sz="1400" dirty="0"/>
          </a:p>
        </p:txBody>
      </p:sp>
      <p:pic>
        <p:nvPicPr>
          <p:cNvPr id="8" name="Image 1" descr="bastet_real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EHRLICHE BEWERTUNG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Fünf Limitierungen</a:t>
            </a:r>
            <a:endParaRPr lang="en-US" sz="3200" dirty="0"/>
          </a:p>
        </p:txBody>
      </p:sp>
      <p:pic>
        <p:nvPicPr>
          <p:cNvPr id="4" name="Image 0" descr="ic_warnin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7830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Junge Technologie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2121408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Sprachmodelle sind aktiv erforscht, sich schnell verändernd — fehlerhafte Ausgaben nicht auszuschließen.</a:t>
            </a:r>
            <a:endParaRPr lang="en-US" sz="1200" dirty="0"/>
          </a:p>
        </p:txBody>
      </p:sp>
      <p:pic>
        <p:nvPicPr>
          <p:cNvPr id="7" name="Image 1" descr="ic_warning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2880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903720" y="17830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Löst das Beweisproblem nicht vollständig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6903720" y="2121408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schwierigere erste Kausalitätsstufe (Erstinfektion beruflich?) bleibt außen vor.</a:t>
            </a:r>
            <a:endParaRPr lang="en-US" sz="1200" dirty="0"/>
          </a:p>
        </p:txBody>
      </p:sp>
      <p:pic>
        <p:nvPicPr>
          <p:cNvPr id="10" name="Image 2" descr="ic_warning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8328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33375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Bleibt unverbindlich</a:t>
            </a:r>
            <a:endParaRPr lang="en-US" sz="1450" dirty="0"/>
          </a:p>
        </p:txBody>
      </p:sp>
      <p:sp>
        <p:nvSpPr>
          <p:cNvPr id="12" name="Text 7"/>
          <p:cNvSpPr txBox="1"/>
          <p:nvPr/>
        </p:nvSpPr>
        <p:spPr>
          <a:xfrm>
            <a:off x="1234440" y="3675888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Behörde, kein Gericht ist gebunden — RDG-bedingt bewusst so.</a:t>
            </a:r>
            <a:endParaRPr lang="en-US" sz="1200" dirty="0"/>
          </a:p>
        </p:txBody>
      </p:sp>
      <p:pic>
        <p:nvPicPr>
          <p:cNvPr id="13" name="Image 3" descr="ic_warning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38328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903720" y="33375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Begrenzte Reichweite</a:t>
            </a:r>
            <a:endParaRPr lang="en-US" sz="1450" dirty="0"/>
          </a:p>
        </p:txBody>
      </p:sp>
      <p:sp>
        <p:nvSpPr>
          <p:cNvPr id="15" name="Text 9"/>
          <p:cNvSpPr txBox="1"/>
          <p:nvPr/>
        </p:nvSpPr>
        <p:spPr>
          <a:xfrm>
            <a:off x="6903720" y="3675888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Hilft nur, wer davon erfährt — ein Verbreitungs-, kein Technikproblem.</a:t>
            </a:r>
            <a:endParaRPr lang="en-US" sz="1200" dirty="0"/>
          </a:p>
        </p:txBody>
      </p:sp>
      <p:pic>
        <p:nvPicPr>
          <p:cNvPr id="16" name="Image 4" descr="ic_warning_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937760"/>
            <a:ext cx="457200" cy="4572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34440" y="48920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Institutioneller Vorbehalt</a:t>
            </a:r>
            <a:endParaRPr lang="en-US" sz="1450" dirty="0"/>
          </a:p>
        </p:txBody>
      </p:sp>
      <p:sp>
        <p:nvSpPr>
          <p:cNvPr id="18" name="Text 11"/>
          <p:cNvSpPr txBox="1"/>
          <p:nvPr/>
        </p:nvSpPr>
        <p:spPr>
          <a:xfrm>
            <a:off x="1234440" y="5230368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Wahrscheinlichster Reflex eines Trägers: stille bürokratische Reibung statt offener Ablehnung.</a:t>
            </a:r>
            <a:endParaRPr lang="en-US" sz="1200" dirty="0"/>
          </a:p>
        </p:txBody>
      </p:sp>
      <p:pic>
        <p:nvPicPr>
          <p:cNvPr id="19" name="Image 5" descr="bastet_real_bad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419088"/>
            <a:ext cx="292608" cy="2926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88720" y="1920240"/>
            <a:ext cx="9784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600" i="1" dirty="0">
                <a:solidFill>
                  <a:srgbClr val="F7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 erschöpfende kognitive Erkrankung muss ausgerechnet ein bürokratisches System durchlaufen, das kognitive Leistungsfähigkeit voraussetzt.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3931920"/>
            <a:ext cx="9784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in dieser Lücke kann ein sorgfältig eingegrenztes, transparentes und kostenloses KI-Werkzeug einen Unterschied machen —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vorzugeben, mehr zu leisten, als es tatsächlich kann.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0" y="576072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Vielen Dank.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2026-09-05T12:31:54Z</dcterms:created>
  <dcterms:modified xsi:type="dcterms:W3CDTF">2026-09-05T12:31:54Z</dcterms:modified>
</cp:coreProperties>
</file>